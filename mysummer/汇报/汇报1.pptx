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0230" autoAdjust="0"/>
  </p:normalViewPr>
  <p:slideViewPr>
    <p:cSldViewPr snapToGrid="0" snapToObjects="1">
      <p:cViewPr varScale="1">
        <p:scale>
          <a:sx n="68" d="100"/>
          <a:sy n="68" d="100"/>
        </p:scale>
        <p:origin x="123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6873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20 秒。大家好，我的课程项目选题是《兴安岭穷游记》。课程要求项目主题与暑假生活相关，而我暑假刚好一个人穷游了大小兴安岭，所以想借这个机会，把这段经历整理成一个微信小程序。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50 秒。这个选题首先来自课程要求：项目主题需要和暑假生活相关。暑假期间，我正好一个人穷游了大小兴安岭，路线、车次、照片和花费都有记录。与其另外虚构一个题目，我更希望借课程项目把这段回忆系统整理，并用微信小程序的页面和交互方式呈现出来。它首先是一项课程实践，也是一份个人旅行档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40 秒。这次旅行从青岛出发，跨海进入东北，之后穿过小兴安岭、大兴安岭和草原，再返回出发地。整个项目使用我自己的公共交通经历、照片和消费记录，不虚构路线。这里后续会插入小程序的真实地图截图。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55 秒。底部有地图、行程、攻略、工具四个入口，分别回答空间、时间、经验和准备问题。地点详情、路段详情和攻略详情是共享页面，同一地点无论从地图还是行程进入，都读取同一份数据。右侧会替换为四个 Tab 的真实截图。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65 秒。四项核心功能形成完整链路：地图先让用户看见路线，时间轴解释旅行顺序，地点和路段详情提供真实经验，预算计算器帮助判断能否复刻。P1 还会增加官方信息、行李清单、路线方案、收藏和图片预览。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55 秒。目前页面跳转、本地数据结构以及地图、时间轴、详情和预算等基础功能已经能够运行。正在整理真实日期、费用和里程，后续还会接入实景照片并统一界面风格。右侧会放入当前版本截图，用来展示课程项目现阶段的完成情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兴安岭穷游记 · 选题汇报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366760" y="647395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《移动软件开发》课程项目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67744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180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A7020E3-1D93-492C-98D3-17194937CA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552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67744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180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188720"/>
            <a:ext cx="4754880" cy="4754880"/>
          </a:xfrm>
          <a:prstGeom prst="ellipse">
            <a:avLst/>
          </a:prstGeom>
          <a:solidFill>
            <a:srgbClr val="9EBBC8">
              <a:alpha val="85000"/>
            </a:srgbClr>
          </a:solidFill>
          <a:ln w="12700">
            <a:solidFill>
              <a:srgbClr val="9EBBC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300000">
            <a:off x="7818120" y="1920240"/>
            <a:ext cx="4480560" cy="3931920"/>
          </a:xfrm>
          <a:prstGeom prst="arc">
            <a:avLst/>
          </a:prstGeom>
          <a:solidFill>
            <a:srgbClr val="173F35">
              <a:alpha val="0"/>
            </a:srgbClr>
          </a:solidFill>
          <a:ln w="27940">
            <a:solidFill>
              <a:srgbClr val="DFC9A5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5715000"/>
            <a:ext cx="9784080" cy="0"/>
          </a:xfrm>
          <a:prstGeom prst="line">
            <a:avLst/>
          </a:prstGeom>
          <a:noFill/>
          <a:ln w="20320">
            <a:solidFill>
              <a:srgbClr val="8FAC9A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5586984"/>
            <a:ext cx="256032" cy="256032"/>
          </a:xfrm>
          <a:prstGeom prst="ellipse">
            <a:avLst/>
          </a:prstGeom>
          <a:solidFill>
            <a:srgbClr val="B65F48"/>
          </a:solidFill>
          <a:ln w="1397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587959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3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青岛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931920" y="5586984"/>
            <a:ext cx="256032" cy="256032"/>
          </a:xfrm>
          <a:prstGeom prst="ellipse">
            <a:avLst/>
          </a:prstGeom>
          <a:solidFill>
            <a:srgbClr val="B65F48"/>
          </a:solidFill>
          <a:ln w="1397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30752" y="587959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3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哈尔滨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0" y="5586984"/>
            <a:ext cx="256032" cy="256032"/>
          </a:xfrm>
          <a:prstGeom prst="ellipse">
            <a:avLst/>
          </a:prstGeom>
          <a:solidFill>
            <a:srgbClr val="DFC9A5"/>
          </a:solidFill>
          <a:ln w="1397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82512" y="587959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3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漠河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464040" y="5586984"/>
            <a:ext cx="256032" cy="256032"/>
          </a:xfrm>
          <a:prstGeom prst="ellipse">
            <a:avLst/>
          </a:prstGeom>
          <a:solidFill>
            <a:srgbClr val="B65F48"/>
          </a:solidFill>
          <a:ln w="1397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62872" y="587959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3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海拉尔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04672" y="685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220" dirty="0">
                <a:solidFill>
                  <a:srgbClr val="DFC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WECHAT MINI PROGRAM · 2026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141732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兴安岭穷游记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777240" y="427549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>
                <a:solidFill>
                  <a:srgbClr val="DFC9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《移动软件开发》课程项目</a:t>
            </a:r>
            <a:r>
              <a:rPr lang="zh-CN" altLang="en-US" sz="1400" b="1">
                <a:solidFill>
                  <a:srgbClr val="DFC9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</a:t>
            </a:r>
            <a:r>
              <a:rPr lang="en-US" sz="1400" b="1">
                <a:solidFill>
                  <a:srgbClr val="DFC9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 - 1</a:t>
            </a:r>
            <a:endParaRPr lang="en-US" sz="14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7C3EA1A-5975-4430-9F1F-29B37BB74FDB}"/>
              </a:ext>
            </a:extLst>
          </p:cNvPr>
          <p:cNvSpPr txBox="1"/>
          <p:nvPr/>
        </p:nvSpPr>
        <p:spPr>
          <a:xfrm>
            <a:off x="777240" y="4815252"/>
            <a:ext cx="3154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DFC9A5"/>
                </a:solidFill>
                <a:latin typeface="Microsoft YaHei" pitchFamily="34" charset="0"/>
                <a:ea typeface="Microsoft YaHei" pitchFamily="34" charset="-122"/>
              </a:rPr>
              <a:t>汇报人：马一诺</a:t>
            </a:r>
          </a:p>
        </p:txBody>
      </p:sp>
      <p:sp>
        <p:nvSpPr>
          <p:cNvPr id="16" name="MiniProgram Avatar">
            <a:extLst>
              <a:ext uri="{FF2B5EF4-FFF2-40B4-BE49-F238E27FC236}">
                <a16:creationId xmlns:a16="http://schemas.microsoft.com/office/drawing/2014/main" id="{ED3E0452-E4D8-4724-8EEE-812083F0AC21}"/>
              </a:ext>
            </a:extLst>
          </p:cNvPr>
          <p:cNvSpPr/>
          <p:nvPr/>
        </p:nvSpPr>
        <p:spPr>
          <a:xfrm>
            <a:off x="8610600" y="609600"/>
            <a:ext cx="3022600" cy="1993900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 w="27940">
            <a:solidFill>
              <a:srgbClr val="DFC9A5"/>
            </a:solidFill>
          </a:ln>
          <a:effectLst>
            <a:outerShdw blurRad="114300" dist="81319" dir="3080424" rotWithShape="0">
              <a:srgbClr val="081B16">
                <a:alpha val="4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80" dirty="0">
                <a:solidFill>
                  <a:srgbClr val="B65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WHY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 err="1">
                <a:solidFill>
                  <a:srgbClr val="173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选题来源：暑假旅行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154680" cy="2423160"/>
          </a:xfrm>
          <a:prstGeom prst="roundRect">
            <a:avLst>
              <a:gd name="adj" fmla="val 3019"/>
            </a:avLst>
          </a:prstGeom>
          <a:solidFill>
            <a:srgbClr val="E4EDF1"/>
          </a:solidFill>
          <a:ln w="8890">
            <a:solidFill>
              <a:srgbClr val="E4EDF1"/>
            </a:solidFill>
            <a:prstDash val="solid"/>
          </a:ln>
          <a:effectLst>
            <a:outerShdw blurRad="19050" dist="50800" dir="2700000" algn="bl" rotWithShape="0">
              <a:srgbClr val="9AA9A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3911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B65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26060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73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课程主题要求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3246120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3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课程项目需要与自己的暑假生活相关，选题应来自真实经历。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51960" y="1828800"/>
            <a:ext cx="3154680" cy="2423160"/>
          </a:xfrm>
          <a:prstGeom prst="roundRect">
            <a:avLst>
              <a:gd name="adj" fmla="val 3019"/>
            </a:avLst>
          </a:prstGeom>
          <a:solidFill>
            <a:srgbClr val="DCE7E2"/>
          </a:solidFill>
          <a:ln w="8890">
            <a:solidFill>
              <a:srgbClr val="DCE7E2"/>
            </a:solidFill>
            <a:prstDash val="solid"/>
          </a:ln>
          <a:effectLst>
            <a:outerShdw blurRad="19050" dist="50800" dir="2700000" algn="bl" rotWithShape="0">
              <a:srgbClr val="9AA9A1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80560" y="203911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B65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480560" y="26060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73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暑假独自旅行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480560" y="3246120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3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暑假期间，我一个人以穷游方式穿越大小兴安岭，留下了完整路线和旅行记录。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63840" y="1828800"/>
            <a:ext cx="3154680" cy="2423160"/>
          </a:xfrm>
          <a:prstGeom prst="roundRect">
            <a:avLst>
              <a:gd name="adj" fmla="val 3019"/>
            </a:avLst>
          </a:prstGeom>
          <a:solidFill>
            <a:srgbClr val="F2E2DC"/>
          </a:solidFill>
          <a:ln w="8890">
            <a:solidFill>
              <a:srgbClr val="F2E2DC"/>
            </a:solidFill>
            <a:prstDash val="solid"/>
          </a:ln>
          <a:effectLst>
            <a:outerShdw blurRad="19050" dist="50800" dir="2700000" algn="bl" rotWithShape="0">
              <a:srgbClr val="9AA9A1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092440" y="203911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B65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092440" y="26060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73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用小程序整理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092440" y="3246120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 err="1">
                <a:solidFill>
                  <a:srgbClr val="63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借课程实践的机会，把路线、行程、照片、费用和</a:t>
            </a:r>
            <a:r>
              <a:rPr lang="zh-CN" altLang="en-US" sz="1200" dirty="0">
                <a:solidFill>
                  <a:srgbClr val="63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实地</a:t>
            </a:r>
            <a:r>
              <a:rPr lang="en-US" sz="1200" dirty="0" err="1">
                <a:solidFill>
                  <a:srgbClr val="63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经验重新整理并呈现出来</a:t>
            </a:r>
            <a:r>
              <a:rPr lang="en-US" sz="1200" dirty="0">
                <a:solidFill>
                  <a:srgbClr val="63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429000" y="4782312"/>
            <a:ext cx="502920" cy="566928"/>
          </a:xfrm>
          <a:prstGeom prst="chevron">
            <a:avLst/>
          </a:prstGeom>
          <a:solidFill>
            <a:srgbClr val="B65F48"/>
          </a:solidFill>
          <a:ln w="12700">
            <a:solidFill>
              <a:srgbClr val="B65F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77640" y="4590288"/>
            <a:ext cx="4251960" cy="987552"/>
          </a:xfrm>
          <a:prstGeom prst="roundRect">
            <a:avLst>
              <a:gd name="adj" fmla="val 7407"/>
            </a:avLst>
          </a:prstGeom>
          <a:solidFill>
            <a:srgbClr val="173F35"/>
          </a:solidFill>
          <a:ln w="8890">
            <a:solidFill>
              <a:srgbClr val="173F35"/>
            </a:solidFill>
            <a:prstDash val="solid"/>
          </a:ln>
          <a:effectLst>
            <a:outerShdw blurRad="19050" dist="50800" dir="2700000" algn="bl" rotWithShape="0">
              <a:srgbClr val="9AA9A1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224528" y="47548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课程项目定位：一份个人暑假旅行的数字化记录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 rot="10800000">
            <a:off x="8275320" y="4782312"/>
            <a:ext cx="502920" cy="566928"/>
          </a:xfrm>
          <a:prstGeom prst="chevron">
            <a:avLst/>
          </a:prstGeom>
          <a:solidFill>
            <a:srgbClr val="B65F48"/>
          </a:solidFill>
          <a:ln w="12700">
            <a:solidFill>
              <a:srgbClr val="B65F48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67744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180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80" dirty="0">
                <a:solidFill>
                  <a:srgbClr val="B65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ROUTE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zh-CN" altLang="en-US" sz="2700" b="1" dirty="0">
                <a:solidFill>
                  <a:srgbClr val="173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兴安岭</a:t>
            </a:r>
            <a:r>
              <a:rPr lang="en-US" sz="2700" b="1" dirty="0" err="1">
                <a:solidFill>
                  <a:srgbClr val="173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暑假</a:t>
            </a:r>
            <a:r>
              <a:rPr lang="zh-CN" altLang="en-US" sz="2700" b="1" dirty="0">
                <a:solidFill>
                  <a:srgbClr val="173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穷游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55648"/>
            <a:ext cx="6537960" cy="4160520"/>
          </a:xfrm>
          <a:prstGeom prst="roundRect">
            <a:avLst>
              <a:gd name="adj" fmla="val 1319"/>
            </a:avLst>
          </a:prstGeom>
          <a:solidFill>
            <a:srgbClr val="EFF3F1"/>
          </a:solidFill>
          <a:ln w="17780">
            <a:solidFill>
              <a:srgbClr val="8FAC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52360" y="1755648"/>
            <a:ext cx="4069080" cy="416052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8890">
            <a:solidFill>
              <a:srgbClr val="DCE5E0"/>
            </a:solidFill>
            <a:prstDash val="solid"/>
          </a:ln>
          <a:effectLst>
            <a:outerShdw blurRad="19050" dist="50800" dir="2700000" algn="bl" rotWithShape="0">
              <a:srgbClr val="9AA9A1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0" y="20299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73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内容侧重点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754112" y="2670048"/>
            <a:ext cx="256032" cy="256032"/>
          </a:xfrm>
          <a:prstGeom prst="ellipse">
            <a:avLst/>
          </a:prstGeom>
          <a:solidFill>
            <a:srgbClr val="2E655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0" y="26334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D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公共交通视角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38160" y="2907792"/>
            <a:ext cx="2788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3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以火车、轮渡、客运和公交串联路线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754112" y="3401568"/>
            <a:ext cx="256032" cy="256032"/>
          </a:xfrm>
          <a:prstGeom prst="ellipse">
            <a:avLst/>
          </a:prstGeom>
          <a:solidFill>
            <a:srgbClr val="B65F4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33649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D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个人真实记录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38160" y="3639312"/>
            <a:ext cx="2788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3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保留实际行程、费用、照片和旅行感受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754112" y="4133088"/>
            <a:ext cx="256032" cy="256032"/>
          </a:xfrm>
          <a:prstGeom prst="ellipse">
            <a:avLst/>
          </a:prstGeom>
          <a:solidFill>
            <a:srgbClr val="2E655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0" y="40965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D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森林与铁路主题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38160" y="4370832"/>
            <a:ext cx="2788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3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呈现小城、林区、草原与长途移动体验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754112" y="4892040"/>
            <a:ext cx="3429000" cy="658368"/>
          </a:xfrm>
          <a:prstGeom prst="roundRect">
            <a:avLst>
              <a:gd name="adj" fmla="val 11111"/>
            </a:avLst>
          </a:prstGeom>
          <a:solidFill>
            <a:srgbClr val="DCE7E2"/>
          </a:solidFill>
          <a:ln w="8890">
            <a:solidFill>
              <a:srgbClr val="DCE7E2"/>
            </a:solidFill>
            <a:prstDash val="solid"/>
          </a:ln>
          <a:effectLst>
            <a:outerShdw blurRad="19050" dist="50800" dir="2700000" algn="bl" rotWithShape="0">
              <a:srgbClr val="9AA9A1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973568" y="5047488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3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不是虚构路线，页面内容将逐步替换为本人真实资料。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67744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180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DFCEAC2B-6493-4F78-8DF4-D69BD883E8F4}"/>
              </a:ext>
            </a:extLst>
          </p:cNvPr>
          <p:cNvPicPr>
            <a:picLocks/>
          </p:cNvPicPr>
          <p:nvPr/>
        </p:nvPicPr>
        <p:blipFill>
          <a:blip r:embed="rId3"/>
          <a:srcRect l="3831"/>
          <a:stretch>
            <a:fillRect/>
          </a:stretch>
        </p:blipFill>
        <p:spPr>
          <a:xfrm>
            <a:off x="1473200" y="1892300"/>
            <a:ext cx="4876800" cy="3911600"/>
          </a:xfrm>
          <a:prstGeom prst="rect">
            <a:avLst/>
          </a:prstGeom>
          <a:ln w="20320">
            <a:solidFill>
              <a:srgbClr val="FFFFFF"/>
            </a:solidFill>
          </a:ln>
          <a:effectLst>
            <a:outerShdw blurRad="76200" dist="53881" dir="2700016" rotWithShape="0">
              <a:srgbClr val="1F2D28">
                <a:alpha val="28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80" dirty="0">
                <a:solidFill>
                  <a:srgbClr val="B65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INFORMATION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73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页面规划：4 个入口，7 类页面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993392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8890">
            <a:solidFill>
              <a:srgbClr val="DCE5E0"/>
            </a:solidFill>
            <a:prstDash val="solid"/>
          </a:ln>
          <a:effectLst>
            <a:outerShdw blurRad="19050" dist="50800" dir="2700000" algn="bl" rotWithShape="0">
              <a:srgbClr val="9AA9A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965960"/>
            <a:ext cx="530352" cy="530352"/>
          </a:xfrm>
          <a:prstGeom prst="ellipse">
            <a:avLst/>
          </a:prstGeom>
          <a:solidFill>
            <a:srgbClr val="173F35"/>
          </a:solidFill>
          <a:ln w="12700">
            <a:solidFill>
              <a:srgbClr val="173F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9659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17904" y="1938528"/>
            <a:ext cx="841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73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地图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1248" y="267919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3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我去了哪里？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80360" y="1737360"/>
            <a:ext cx="1993392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8890">
            <a:solidFill>
              <a:srgbClr val="DCE5E0"/>
            </a:solidFill>
            <a:prstDash val="solid"/>
          </a:ln>
          <a:effectLst>
            <a:outerShdw blurRad="19050" dist="50800" dir="2700000" algn="bl" rotWithShape="0">
              <a:srgbClr val="9AA9A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081528" y="1965960"/>
            <a:ext cx="530352" cy="530352"/>
          </a:xfrm>
          <a:prstGeom prst="ellipse">
            <a:avLst/>
          </a:prstGeom>
          <a:solidFill>
            <a:srgbClr val="B65F48"/>
          </a:solidFill>
          <a:ln w="12700">
            <a:solidFill>
              <a:srgbClr val="B65F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81528" y="19659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58184" y="1938528"/>
            <a:ext cx="841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73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行程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081528" y="267919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3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我是怎么走的？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120640" y="1737360"/>
            <a:ext cx="1993392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8890">
            <a:solidFill>
              <a:srgbClr val="DCE5E0"/>
            </a:solidFill>
            <a:prstDash val="solid"/>
          </a:ln>
          <a:effectLst>
            <a:outerShdw blurRad="19050" dist="50800" dir="2700000" algn="bl" rotWithShape="0">
              <a:srgbClr val="9AA9A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21808" y="1965960"/>
            <a:ext cx="530352" cy="530352"/>
          </a:xfrm>
          <a:prstGeom prst="ellipse">
            <a:avLst/>
          </a:prstGeom>
          <a:solidFill>
            <a:srgbClr val="9EBBC8"/>
          </a:solidFill>
          <a:ln w="12700">
            <a:solidFill>
              <a:srgbClr val="9EBB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21808" y="19659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98464" y="1938528"/>
            <a:ext cx="841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73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攻略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321808" y="267919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3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复刻需要知道什么？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60920" y="1737360"/>
            <a:ext cx="1993392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8890">
            <a:solidFill>
              <a:srgbClr val="DCE5E0"/>
            </a:solidFill>
            <a:prstDash val="solid"/>
          </a:ln>
          <a:effectLst>
            <a:outerShdw blurRad="19050" dist="50800" dir="2700000" algn="bl" rotWithShape="0">
              <a:srgbClr val="9AA9A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562088" y="1965960"/>
            <a:ext cx="530352" cy="530352"/>
          </a:xfrm>
          <a:prstGeom prst="ellipse">
            <a:avLst/>
          </a:prstGeom>
          <a:solidFill>
            <a:srgbClr val="8FAC9A"/>
          </a:solidFill>
          <a:ln w="12700">
            <a:solidFill>
              <a:srgbClr val="8FAC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62088" y="19659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38744" y="1938528"/>
            <a:ext cx="841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73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562088" y="267919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3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需要多少钱和准备什么？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645920" y="3703320"/>
            <a:ext cx="6720840" cy="0"/>
          </a:xfrm>
          <a:prstGeom prst="line">
            <a:avLst/>
          </a:prstGeom>
          <a:noFill/>
          <a:ln w="25400">
            <a:solidFill>
              <a:srgbClr val="8FAC9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28800" y="3575304"/>
            <a:ext cx="256032" cy="256032"/>
          </a:xfrm>
          <a:prstGeom prst="ellipse">
            <a:avLst/>
          </a:prstGeom>
          <a:solidFill>
            <a:srgbClr val="B65F48"/>
          </a:solidFill>
          <a:ln w="1397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78992" y="4023360"/>
            <a:ext cx="1755648" cy="685800"/>
          </a:xfrm>
          <a:prstGeom prst="roundRect">
            <a:avLst>
              <a:gd name="adj" fmla="val 10667"/>
            </a:avLst>
          </a:prstGeom>
          <a:solidFill>
            <a:srgbClr val="DCE7E2"/>
          </a:solidFill>
          <a:ln w="8890">
            <a:solidFill>
              <a:srgbClr val="DCE7E2"/>
            </a:solidFill>
            <a:prstDash val="solid"/>
          </a:ln>
          <a:effectLst>
            <a:outerShdw blurRad="19050" dist="50800" dir="2700000" algn="bl" rotWithShape="0">
              <a:srgbClr val="9AA9A1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170432" y="416052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地点详情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0" y="3575304"/>
            <a:ext cx="256032" cy="256032"/>
          </a:xfrm>
          <a:prstGeom prst="ellipse">
            <a:avLst/>
          </a:prstGeom>
          <a:solidFill>
            <a:srgbClr val="B65F48"/>
          </a:solidFill>
          <a:ln w="1397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22192" y="4023360"/>
            <a:ext cx="1755648" cy="685800"/>
          </a:xfrm>
          <a:prstGeom prst="roundRect">
            <a:avLst>
              <a:gd name="adj" fmla="val 10667"/>
            </a:avLst>
          </a:prstGeom>
          <a:solidFill>
            <a:srgbClr val="DCE7E2"/>
          </a:solidFill>
          <a:ln w="8890">
            <a:solidFill>
              <a:srgbClr val="DCE7E2"/>
            </a:solidFill>
            <a:prstDash val="solid"/>
          </a:ln>
          <a:effectLst>
            <a:outerShdw blurRad="19050" dist="50800" dir="2700000" algn="bl" rotWithShape="0">
              <a:srgbClr val="9AA9A1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913632" y="416052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路段详情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315200" y="3575304"/>
            <a:ext cx="256032" cy="256032"/>
          </a:xfrm>
          <a:prstGeom prst="ellipse">
            <a:avLst/>
          </a:prstGeom>
          <a:solidFill>
            <a:srgbClr val="B65F48"/>
          </a:solidFill>
          <a:ln w="1397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65392" y="4023360"/>
            <a:ext cx="1755648" cy="685800"/>
          </a:xfrm>
          <a:prstGeom prst="roundRect">
            <a:avLst>
              <a:gd name="adj" fmla="val 10667"/>
            </a:avLst>
          </a:prstGeom>
          <a:solidFill>
            <a:srgbClr val="DCE7E2"/>
          </a:solidFill>
          <a:ln w="8890">
            <a:solidFill>
              <a:srgbClr val="DCE7E2"/>
            </a:solidFill>
            <a:prstDash val="solid"/>
          </a:ln>
          <a:effectLst>
            <a:outerShdw blurRad="19050" dist="50800" dir="2700000" algn="bl" rotWithShape="0">
              <a:srgbClr val="9AA9A1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656832" y="416052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攻略详情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14400" y="532180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复用详情页，避免同一地点与路段在不同入口出现多套数据。</a:t>
            </a:r>
            <a:endParaRPr lang="en-US" sz="15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67744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180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42" name="图片 41">
            <a:extLst>
              <a:ext uri="{FF2B5EF4-FFF2-40B4-BE49-F238E27FC236}">
                <a16:creationId xmlns:a16="http://schemas.microsoft.com/office/drawing/2014/main" id="{A6D33556-49A6-4138-81F5-F8A65AE73DD2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880600" y="1219200"/>
            <a:ext cx="2095500" cy="4635500"/>
          </a:xfrm>
          <a:prstGeom prst="rect">
            <a:avLst/>
          </a:prstGeom>
          <a:ln w="20320">
            <a:solidFill>
              <a:srgbClr val="2E6554"/>
            </a:solidFill>
          </a:ln>
          <a:effectLst>
            <a:outerShdw blurRad="76200" dist="53881" dir="2700016" rotWithShape="0">
              <a:srgbClr val="1F2D28">
                <a:alpha val="28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80" dirty="0">
                <a:solidFill>
                  <a:srgbClr val="B65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CORE FUNCTIONS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 err="1">
                <a:solidFill>
                  <a:srgbClr val="173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主要功能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783080"/>
            <a:ext cx="2468880" cy="1600200"/>
          </a:xfrm>
          <a:prstGeom prst="roundRect">
            <a:avLst>
              <a:gd name="adj" fmla="val 4571"/>
            </a:avLst>
          </a:prstGeom>
          <a:solidFill>
            <a:srgbClr val="DCE7E2"/>
          </a:solidFill>
          <a:ln w="8890">
            <a:solidFill>
              <a:srgbClr val="DCE7E2"/>
            </a:solidFill>
            <a:prstDash val="solid"/>
          </a:ln>
          <a:effectLst>
            <a:outerShdw blurRad="19050" dist="50800" dir="2700000" algn="bl" rotWithShape="0">
              <a:srgbClr val="9AA9A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94767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B65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41248" y="231343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73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路线地图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41248" y="2734056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3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Marker + Polyline 展示完整空间轨迹，重复到访合并标识。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83280" y="1783080"/>
            <a:ext cx="2468880" cy="1600200"/>
          </a:xfrm>
          <a:prstGeom prst="roundRect">
            <a:avLst>
              <a:gd name="adj" fmla="val 4571"/>
            </a:avLst>
          </a:prstGeom>
          <a:solidFill>
            <a:srgbClr val="E4EDF1"/>
          </a:solidFill>
          <a:ln w="8890">
            <a:solidFill>
              <a:srgbClr val="E4EDF1"/>
            </a:solidFill>
            <a:prstDash val="solid"/>
          </a:ln>
          <a:effectLst>
            <a:outerShdw blurRad="19050" dist="50800" dir="2700000" algn="bl" rotWithShape="0">
              <a:srgbClr val="9AA9A1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66160" y="194767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B65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566160" y="231343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73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行程时间轴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566160" y="2734056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3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Day 展示地点与路段，明确跨夜、换乘和真实顺序。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8368" y="3840480"/>
            <a:ext cx="2468880" cy="1600200"/>
          </a:xfrm>
          <a:prstGeom prst="roundRect">
            <a:avLst>
              <a:gd name="adj" fmla="val 4571"/>
            </a:avLst>
          </a:prstGeom>
          <a:solidFill>
            <a:srgbClr val="F2E2DC"/>
          </a:solidFill>
          <a:ln w="8890">
            <a:solidFill>
              <a:srgbClr val="F2E2DC"/>
            </a:solidFill>
            <a:prstDash val="solid"/>
          </a:ln>
          <a:effectLst>
            <a:outerShdw blurRad="19050" dist="50800" dir="2700000" algn="bl" rotWithShape="0">
              <a:srgbClr val="9AA9A1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1248" y="400507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B65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41248" y="437083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73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地点 / 路段详情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41248" y="4791456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3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记录照片、体验、时间、费用、评分与踩坑建议。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383280" y="3840480"/>
            <a:ext cx="2468880" cy="1600200"/>
          </a:xfrm>
          <a:prstGeom prst="roundRect">
            <a:avLst>
              <a:gd name="adj" fmla="val 4571"/>
            </a:avLst>
          </a:prstGeom>
          <a:solidFill>
            <a:srgbClr val="E8EFE7"/>
          </a:solidFill>
          <a:ln w="8890">
            <a:solidFill>
              <a:srgbClr val="E8EFE7"/>
            </a:solidFill>
            <a:prstDash val="solid"/>
          </a:ln>
          <a:effectLst>
            <a:outerShdw blurRad="19050" dist="50800" dir="2700000" algn="bl" rotWithShape="0">
              <a:srgbClr val="9AA9A1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566160" y="400507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B65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566160" y="437083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73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预算计算器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566160" y="4791456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3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 × 住宿 × 饮食，计算基础预算和 15% 应急预算。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72200" y="1783080"/>
            <a:ext cx="5349240" cy="3657600"/>
          </a:xfrm>
          <a:prstGeom prst="roundRect">
            <a:avLst>
              <a:gd name="adj" fmla="val 1500"/>
            </a:avLst>
          </a:prstGeom>
          <a:solidFill>
            <a:srgbClr val="EFF3F1"/>
          </a:solidFill>
          <a:ln w="17780">
            <a:solidFill>
              <a:srgbClr val="8FAC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5623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65F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 将继续增加：官方信息入口 · 行李清单 · 路线方案 · 收藏 · 图片预览</a:t>
            </a:r>
            <a:endParaRPr lang="en-US" sz="12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67744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180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8B9A5331-3436-4A51-BB2A-C6BCCBB7AF0F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299200" y="1943100"/>
            <a:ext cx="5080000" cy="3314700"/>
          </a:xfrm>
          <a:prstGeom prst="rect">
            <a:avLst/>
          </a:prstGeom>
          <a:ln w="20320">
            <a:solidFill>
              <a:srgbClr val="FFFFFF"/>
            </a:solidFill>
          </a:ln>
          <a:effectLst>
            <a:outerShdw blurRad="76200" dist="53881" dir="2700016" rotWithShape="0">
              <a:srgbClr val="1F2D28">
                <a:alpha val="28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80" dirty="0">
                <a:solidFill>
                  <a:srgbClr val="B65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CURRENT PROGRESS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73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当前进展：基础功能骨架已经跑通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644140" y="1755648"/>
            <a:ext cx="6903720" cy="3639312"/>
          </a:xfrm>
          <a:prstGeom prst="roundRect">
            <a:avLst>
              <a:gd name="adj" fmla="val 2010"/>
            </a:avLst>
          </a:prstGeom>
          <a:solidFill>
            <a:srgbClr val="FFFFFF"/>
          </a:solidFill>
          <a:ln w="8890">
            <a:solidFill>
              <a:srgbClr val="DCE5E0"/>
            </a:solidFill>
            <a:prstDash val="solid"/>
          </a:ln>
          <a:effectLst>
            <a:outerShdw blurRad="19050" dist="50800" dir="2700000" algn="bl" rotWithShape="0">
              <a:srgbClr val="9AA9A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945892" y="217627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F2D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页面与跳转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179564" y="2167128"/>
            <a:ext cx="1572768" cy="274320"/>
          </a:xfrm>
          <a:prstGeom prst="roundRect">
            <a:avLst>
              <a:gd name="adj" fmla="val 13333"/>
            </a:avLst>
          </a:prstGeom>
          <a:solidFill>
            <a:srgbClr val="2E6554"/>
          </a:solidFill>
          <a:ln w="12700">
            <a:solidFill>
              <a:srgbClr val="2E65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79564" y="216712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945892" y="274320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F2D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地图 / 时间轴 / 预算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179564" y="2734056"/>
            <a:ext cx="1572768" cy="274320"/>
          </a:xfrm>
          <a:prstGeom prst="roundRect">
            <a:avLst>
              <a:gd name="adj" fmla="val 13333"/>
            </a:avLst>
          </a:prstGeom>
          <a:solidFill>
            <a:srgbClr val="2E6554"/>
          </a:solidFill>
          <a:ln w="12700">
            <a:solidFill>
              <a:srgbClr val="2E65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79564" y="2734056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已完成骨架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45892" y="331012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F2D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真实日期、费用与里程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179564" y="3300984"/>
            <a:ext cx="1572768" cy="274320"/>
          </a:xfrm>
          <a:prstGeom prst="roundRect">
            <a:avLst>
              <a:gd name="adj" fmla="val 13333"/>
            </a:avLst>
          </a:prstGeom>
          <a:solidFill>
            <a:srgbClr val="B65F48">
              <a:alpha val="95000"/>
            </a:srgbClr>
          </a:solidFill>
          <a:ln w="12700">
            <a:solidFill>
              <a:srgbClr val="B65F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79564" y="330098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整理中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945892" y="387705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F2D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实景照片与海报视觉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179564" y="3867912"/>
            <a:ext cx="1572768" cy="274320"/>
          </a:xfrm>
          <a:prstGeom prst="roundRect">
            <a:avLst>
              <a:gd name="adj" fmla="val 13333"/>
            </a:avLst>
          </a:prstGeom>
          <a:solidFill>
            <a:srgbClr val="9EBBC8"/>
          </a:solidFill>
          <a:ln w="12700">
            <a:solidFill>
              <a:srgbClr val="9EBB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79564" y="386791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待接入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45892" y="444398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F2D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 五项功能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179564" y="4434840"/>
            <a:ext cx="1572768" cy="274320"/>
          </a:xfrm>
          <a:prstGeom prst="roundRect">
            <a:avLst>
              <a:gd name="adj" fmla="val 13333"/>
            </a:avLst>
          </a:prstGeom>
          <a:solidFill>
            <a:srgbClr val="B65F48"/>
          </a:solidFill>
          <a:ln w="12700">
            <a:solidFill>
              <a:srgbClr val="B65F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79564" y="443484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待开发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371600" y="5715000"/>
            <a:ext cx="944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目前已完成课程项目的基础框架，下一步重点是真实内容和界面完善。</a:t>
            </a:r>
            <a:endParaRPr lang="en-US" sz="16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67744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180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432D2E96-8333-4AB6-9F5D-222AF2A0290C}"/>
              </a:ext>
            </a:extLst>
          </p:cNvPr>
          <p:cNvSpPr/>
          <p:nvPr/>
        </p:nvSpPr>
        <p:spPr>
          <a:xfrm>
            <a:off x="8496300" y="-1168400"/>
            <a:ext cx="4826000" cy="4826000"/>
          </a:xfrm>
          <a:prstGeom prst="ellipse">
            <a:avLst/>
          </a:prstGeom>
          <a:solidFill>
            <a:srgbClr val="9EBBC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872A5FF6-EA7E-4557-8CA4-F2B70A0885C2}"/>
              </a:ext>
            </a:extLst>
          </p:cNvPr>
          <p:cNvCxnSpPr/>
          <p:nvPr/>
        </p:nvCxnSpPr>
        <p:spPr>
          <a:xfrm>
            <a:off x="1092200" y="5867400"/>
            <a:ext cx="10007600" cy="0"/>
          </a:xfrm>
          <a:prstGeom prst="line">
            <a:avLst/>
          </a:prstGeom>
          <a:ln>
            <a:solidFill>
              <a:srgbClr val="8FAC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椭圆 3">
            <a:extLst>
              <a:ext uri="{FF2B5EF4-FFF2-40B4-BE49-F238E27FC236}">
                <a16:creationId xmlns:a16="http://schemas.microsoft.com/office/drawing/2014/main" id="{DA4FBA97-6E0E-4250-8BCB-4B045FBEBD27}"/>
              </a:ext>
            </a:extLst>
          </p:cNvPr>
          <p:cNvSpPr/>
          <p:nvPr/>
        </p:nvSpPr>
        <p:spPr>
          <a:xfrm>
            <a:off x="1295400" y="5740400"/>
            <a:ext cx="254000" cy="254000"/>
          </a:xfrm>
          <a:prstGeom prst="ellipse">
            <a:avLst/>
          </a:prstGeom>
          <a:solidFill>
            <a:srgbClr val="B65F48"/>
          </a:solidFill>
          <a:ln w="1524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A859761-7020-4C67-B918-B3677824B677}"/>
              </a:ext>
            </a:extLst>
          </p:cNvPr>
          <p:cNvSpPr/>
          <p:nvPr/>
        </p:nvSpPr>
        <p:spPr>
          <a:xfrm>
            <a:off x="4521200" y="5740400"/>
            <a:ext cx="254000" cy="254000"/>
          </a:xfrm>
          <a:prstGeom prst="ellipse">
            <a:avLst/>
          </a:prstGeom>
          <a:solidFill>
            <a:srgbClr val="B65F48"/>
          </a:solidFill>
          <a:ln w="1524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94AC12F-9EEB-4684-84CB-5FCFFAB44FE9}"/>
              </a:ext>
            </a:extLst>
          </p:cNvPr>
          <p:cNvSpPr/>
          <p:nvPr/>
        </p:nvSpPr>
        <p:spPr>
          <a:xfrm>
            <a:off x="7747000" y="5740400"/>
            <a:ext cx="254000" cy="254000"/>
          </a:xfrm>
          <a:prstGeom prst="ellipse">
            <a:avLst/>
          </a:prstGeom>
          <a:solidFill>
            <a:srgbClr val="DFC9A5"/>
          </a:solidFill>
          <a:ln w="1524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CE7D1E42-D4D2-420D-A77F-F9F84C62ED11}"/>
              </a:ext>
            </a:extLst>
          </p:cNvPr>
          <p:cNvSpPr/>
          <p:nvPr/>
        </p:nvSpPr>
        <p:spPr>
          <a:xfrm>
            <a:off x="10769600" y="5740400"/>
            <a:ext cx="254000" cy="254000"/>
          </a:xfrm>
          <a:prstGeom prst="ellipse">
            <a:avLst/>
          </a:prstGeom>
          <a:solidFill>
            <a:srgbClr val="B65F48"/>
          </a:solidFill>
          <a:ln w="1524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C59868E8-BC65-4B44-A741-464269868BAE}"/>
              </a:ext>
            </a:extLst>
          </p:cNvPr>
          <p:cNvSpPr/>
          <p:nvPr/>
        </p:nvSpPr>
        <p:spPr>
          <a:xfrm>
            <a:off x="4279900" y="711200"/>
            <a:ext cx="3632200" cy="2387600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 w="25400">
            <a:solidFill>
              <a:srgbClr val="DFC9A5"/>
            </a:solidFill>
          </a:ln>
          <a:effectLst>
            <a:outerShdw blurRad="127000" dist="81319" dir="3080424" rotWithShape="0">
              <a:srgbClr val="081B16">
                <a:alpha val="4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84B279A-0CEF-48B5-9C72-1883B4141A7E}"/>
              </a:ext>
            </a:extLst>
          </p:cNvPr>
          <p:cNvSpPr txBox="1"/>
          <p:nvPr/>
        </p:nvSpPr>
        <p:spPr>
          <a:xfrm>
            <a:off x="2032000" y="3429000"/>
            <a:ext cx="8128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3400" b="1">
                <a:solidFill>
                  <a:srgbClr val="FFFFFF"/>
                </a:solidFill>
                <a:latin typeface="Microsoft YaHei" panose="020B0503020204020204" pitchFamily="34" charset="-122"/>
              </a:rPr>
              <a:t>谢谢观看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E14BA8E-FFB4-4DE1-BD04-1C8742081264}"/>
              </a:ext>
            </a:extLst>
          </p:cNvPr>
          <p:cNvSpPr txBox="1"/>
          <p:nvPr/>
        </p:nvSpPr>
        <p:spPr>
          <a:xfrm>
            <a:off x="3175000" y="4292600"/>
            <a:ext cx="5842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b="1">
                <a:solidFill>
                  <a:srgbClr val="DFC9A5"/>
                </a:solidFill>
                <a:latin typeface="Microsoft YaHei" panose="020B0503020204020204" pitchFamily="34" charset="-122"/>
              </a:rPr>
              <a:t>AAA</a:t>
            </a:r>
            <a:r>
              <a:rPr lang="zh-CN" altLang="en-US" b="1">
                <a:solidFill>
                  <a:srgbClr val="DFC9A5"/>
                </a:solidFill>
                <a:latin typeface="Microsoft YaHei" panose="020B0503020204020204" pitchFamily="34" charset="-122"/>
              </a:rPr>
              <a:t>情满而归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2DAEC38-6463-4D86-B707-0A1BEAF6A5F5}"/>
              </a:ext>
            </a:extLst>
          </p:cNvPr>
          <p:cNvSpPr txBox="1"/>
          <p:nvPr/>
        </p:nvSpPr>
        <p:spPr>
          <a:xfrm>
            <a:off x="2413000" y="5003800"/>
            <a:ext cx="7366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100">
                <a:solidFill>
                  <a:srgbClr val="C8D9D1"/>
                </a:solidFill>
                <a:latin typeface="Microsoft YaHei" panose="020B0503020204020204" pitchFamily="34" charset="-122"/>
              </a:rPr>
              <a:t>《</a:t>
            </a:r>
            <a:r>
              <a:rPr lang="zh-CN" altLang="en-US" sz="1100">
                <a:solidFill>
                  <a:srgbClr val="C8D9D1"/>
                </a:solidFill>
                <a:latin typeface="Microsoft YaHei" panose="020B0503020204020204" pitchFamily="34" charset="-122"/>
              </a:rPr>
              <a:t>移动软件开发</a:t>
            </a:r>
            <a:r>
              <a:rPr lang="en-US" altLang="zh-CN" sz="1100">
                <a:solidFill>
                  <a:srgbClr val="C8D9D1"/>
                </a:solidFill>
                <a:latin typeface="Microsoft YaHei" panose="020B0503020204020204" pitchFamily="34" charset="-122"/>
              </a:rPr>
              <a:t>》</a:t>
            </a:r>
            <a:r>
              <a:rPr lang="zh-CN" altLang="en-US" sz="1100">
                <a:solidFill>
                  <a:srgbClr val="C8D9D1"/>
                </a:solidFill>
                <a:latin typeface="Microsoft YaHei" panose="020B0503020204020204" pitchFamily="34" charset="-122"/>
              </a:rPr>
              <a:t>课程项目阶段汇报  </a:t>
            </a:r>
            <a:r>
              <a:rPr lang="en-US" altLang="zh-CN" sz="1100">
                <a:solidFill>
                  <a:srgbClr val="C8D9D1"/>
                </a:solidFill>
                <a:latin typeface="Microsoft YaHei" panose="020B0503020204020204" pitchFamily="34" charset="-122"/>
              </a:rPr>
              <a:t>·  </a:t>
            </a:r>
            <a:r>
              <a:rPr lang="zh-CN" altLang="en-US" sz="1100">
                <a:solidFill>
                  <a:srgbClr val="C8D9D1"/>
                </a:solidFill>
                <a:latin typeface="Microsoft YaHei" panose="020B0503020204020204" pitchFamily="34" charset="-122"/>
              </a:rPr>
              <a:t>汇报人：马一诺</a:t>
            </a:r>
          </a:p>
        </p:txBody>
      </p:sp>
    </p:spTree>
    <p:extLst>
      <p:ext uri="{BB962C8B-B14F-4D97-AF65-F5344CB8AC3E}">
        <p14:creationId xmlns:p14="http://schemas.microsoft.com/office/powerpoint/2010/main" val="116851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</TotalTime>
  <Words>390</Words>
  <Application>Microsoft Office PowerPoint</Application>
  <PresentationFormat>宽屏</PresentationFormat>
  <Paragraphs>96</Paragraphs>
  <Slides>7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等线</vt:lpstr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中国海洋大学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《兴安岭穷游记》微信小程序选题汇报</dc:title>
  <dc:subject>《移动软件开发》课程项目选题汇报</dc:subject>
  <dc:creator>兴安岭穷游记项目组</dc:creator>
  <cp:lastModifiedBy>yinuo Ma</cp:lastModifiedBy>
  <cp:revision>12</cp:revision>
  <dcterms:created xsi:type="dcterms:W3CDTF">2026-08-30T16:07:55Z</dcterms:created>
  <dcterms:modified xsi:type="dcterms:W3CDTF">2026-08-31T00:25:09Z</dcterms:modified>
</cp:coreProperties>
</file>